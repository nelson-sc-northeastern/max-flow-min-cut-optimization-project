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</p:sldIdLst>
  <p:sldSz cy="5143500" cx="9144000"/>
  <p:notesSz cx="6858000" cy="9144000"/>
  <p:embeddedFontLst>
    <p:embeddedFont>
      <p:font typeface="Raleway"/>
      <p:regular r:id="rId20"/>
      <p:bold r:id="rId21"/>
      <p:italic r:id="rId22"/>
      <p:boldItalic r:id="rId23"/>
    </p:embeddedFont>
    <p:embeddedFont>
      <p:font typeface="Lato"/>
      <p:regular r:id="rId24"/>
      <p:bold r:id="rId25"/>
      <p:italic r:id="rId26"/>
      <p:boldItalic r:id="rId2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Raleway-regular.fntdata"/><Relationship Id="rId22" Type="http://schemas.openxmlformats.org/officeDocument/2006/relationships/font" Target="fonts/Raleway-italic.fntdata"/><Relationship Id="rId21" Type="http://schemas.openxmlformats.org/officeDocument/2006/relationships/font" Target="fonts/Raleway-bold.fntdata"/><Relationship Id="rId24" Type="http://schemas.openxmlformats.org/officeDocument/2006/relationships/font" Target="fonts/Lato-regular.fntdata"/><Relationship Id="rId23" Type="http://schemas.openxmlformats.org/officeDocument/2006/relationships/font" Target="fonts/Raleway-bold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Lato-italic.fntdata"/><Relationship Id="rId25" Type="http://schemas.openxmlformats.org/officeDocument/2006/relationships/font" Target="fonts/Lato-bold.fntdata"/><Relationship Id="rId27" Type="http://schemas.openxmlformats.org/officeDocument/2006/relationships/font" Target="fonts/Lato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1aba1bafa8_0_7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31aba1bafa8_0_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31aba1bafa8_0_8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" name="Google Shape;95;g31aba1bafa8_0_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31aba1bafa8_0_9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" name="Google Shape;101;g31aba1bafa8_0_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31aba1bafa8_0_8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" name="Google Shape;107;g31aba1bafa8_0_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31aba1bafa8_0_9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" name="Google Shape;113;g31aba1bafa8_0_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31aba1bafa8_0_10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Google Shape;118;g31aba1bafa8_0_1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31aba1bafa8_0_10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8" name="Google Shape;128;g31aba1bafa8_0_1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31aba1bafa8_0_1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6" name="Google Shape;136;g31aba1bafa8_0_1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31aba1bafa8_0_1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2" name="Google Shape;142;g31aba1bafa8_0_1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aba1bafa8_0_1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aba1bafa8_0_1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g31aba1bafa8_0_1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3" name="Google Shape;153;g31aba1bafa8_0_1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g31aba1bafa8_0_1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9" name="Google Shape;159;g31aba1bafa8_0_1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g31c06460208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5" name="Google Shape;165;g31c06460208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lt2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2" name="Google Shape;12;p2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4" name="Google Shape;14;p2"/>
          <p:cNvSpPr txBox="1"/>
          <p:nvPr>
            <p:ph type="ctrTitle"/>
          </p:nvPr>
        </p:nvSpPr>
        <p:spPr>
          <a:xfrm>
            <a:off x="729450" y="1322450"/>
            <a:ext cx="7688100" cy="166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5" name="Google Shape;15;p2"/>
          <p:cNvSpPr txBox="1"/>
          <p:nvPr>
            <p:ph idx="1" type="subTitle"/>
          </p:nvPr>
        </p:nvSpPr>
        <p:spPr>
          <a:xfrm>
            <a:off x="729627" y="3172900"/>
            <a:ext cx="7688100" cy="54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16" name="Google Shape;16;p2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oogle Shape;18;p3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9" name="Google Shape;19;p3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" name="Google Shape;20;p3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1" name="Google Shape;21;p3"/>
          <p:cNvSpPr txBox="1"/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2" name="Google Shape;22;p3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5" name="Google Shape;25;p4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26" name="Google Shape;26;p4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" name="Google Shape;27;p4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8" name="Google Shape;28;p4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29" name="Google Shape;29;p4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0" name="Google Shape;30;p4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5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3" name="Google Shape;33;p5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34" name="Google Shape;34;p5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" name="Google Shape;35;p5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6" name="Google Shape;36;p5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37" name="Google Shape;37;p5"/>
          <p:cNvSpPr txBox="1"/>
          <p:nvPr>
            <p:ph idx="1" type="body"/>
          </p:nvPr>
        </p:nvSpPr>
        <p:spPr>
          <a:xfrm>
            <a:off x="729325" y="2078875"/>
            <a:ext cx="37743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8" name="Google Shape;38;p5"/>
          <p:cNvSpPr txBox="1"/>
          <p:nvPr>
            <p:ph idx="2" type="body"/>
          </p:nvPr>
        </p:nvSpPr>
        <p:spPr>
          <a:xfrm>
            <a:off x="4643604" y="2078875"/>
            <a:ext cx="37743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9" name="Google Shape;39;p5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6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2" name="Google Shape;42;p6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43" name="Google Shape;43;p6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" name="Google Shape;44;p6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5" name="Google Shape;45;p6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46" name="Google Shape;46;p6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7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9" name="Google Shape;49;p7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50" name="Google Shape;50;p7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" name="Google Shape;51;p7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2" name="Google Shape;52;p7"/>
          <p:cNvSpPr txBox="1"/>
          <p:nvPr>
            <p:ph type="title"/>
          </p:nvPr>
        </p:nvSpPr>
        <p:spPr>
          <a:xfrm>
            <a:off x="730000" y="1318650"/>
            <a:ext cx="3300900" cy="138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53" name="Google Shape;53;p7"/>
          <p:cNvSpPr txBox="1"/>
          <p:nvPr>
            <p:ph idx="1" type="body"/>
          </p:nvPr>
        </p:nvSpPr>
        <p:spPr>
          <a:xfrm>
            <a:off x="721225" y="2781725"/>
            <a:ext cx="3300900" cy="159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4" name="Google Shape;54;p7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3"/>
        </a:solidFill>
      </p:bgPr>
    </p:bg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6" name="Google Shape;56;p8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57" name="Google Shape;57;p8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" name="Google Shape;58;p8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9" name="Google Shape;59;p8"/>
          <p:cNvSpPr txBox="1"/>
          <p:nvPr>
            <p:ph type="title"/>
          </p:nvPr>
        </p:nvSpPr>
        <p:spPr>
          <a:xfrm>
            <a:off x="729450" y="864300"/>
            <a:ext cx="7021200" cy="2985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0" name="Google Shape;60;p8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9"/>
          <p:cNvSpPr/>
          <p:nvPr/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63" name="Google Shape;63;p9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64" name="Google Shape;64;p9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" name="Google Shape;65;p9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6" name="Google Shape;66;p9"/>
          <p:cNvSpPr txBox="1"/>
          <p:nvPr>
            <p:ph type="title"/>
          </p:nvPr>
        </p:nvSpPr>
        <p:spPr>
          <a:xfrm>
            <a:off x="730000" y="1318650"/>
            <a:ext cx="3300900" cy="168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67" name="Google Shape;67;p9"/>
          <p:cNvSpPr txBox="1"/>
          <p:nvPr>
            <p:ph idx="1" type="subTitle"/>
          </p:nvPr>
        </p:nvSpPr>
        <p:spPr>
          <a:xfrm>
            <a:off x="724950" y="3161525"/>
            <a:ext cx="3300900" cy="75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68" name="Google Shape;68;p9"/>
          <p:cNvSpPr txBox="1"/>
          <p:nvPr>
            <p:ph idx="2" type="body"/>
          </p:nvPr>
        </p:nvSpPr>
        <p:spPr>
          <a:xfrm>
            <a:off x="5174225" y="1352625"/>
            <a:ext cx="3374400" cy="302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9" name="Google Shape;69;p9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0"/>
          <p:cNvSpPr txBox="1"/>
          <p:nvPr>
            <p:ph idx="1" type="body"/>
          </p:nvPr>
        </p:nvSpPr>
        <p:spPr>
          <a:xfrm>
            <a:off x="724950" y="4372551"/>
            <a:ext cx="7697400" cy="460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72" name="Google Shape;72;p10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dk1"/>
        </a:solidFill>
      </p:bgPr>
    </p:bg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4" name="Google Shape;74;p11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75" name="Google Shape;75;p11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" name="Google Shape;76;p11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7" name="Google Shape;77;p11"/>
          <p:cNvSpPr txBox="1"/>
          <p:nvPr>
            <p:ph hasCustomPrompt="1" type="title"/>
          </p:nvPr>
        </p:nvSpPr>
        <p:spPr>
          <a:xfrm>
            <a:off x="729450" y="733950"/>
            <a:ext cx="7688400" cy="124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78" name="Google Shape;78;p11"/>
          <p:cNvSpPr txBox="1"/>
          <p:nvPr>
            <p:ph idx="1" type="body"/>
          </p:nvPr>
        </p:nvSpPr>
        <p:spPr>
          <a:xfrm>
            <a:off x="729450" y="2272888"/>
            <a:ext cx="7688400" cy="158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●"/>
              <a:defRPr>
                <a:solidFill>
                  <a:schemeClr val="lt1"/>
                </a:solidFill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9" name="Google Shape;79;p11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2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treamline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300"/>
              <a:buFont typeface="Lato"/>
              <a:buChar char="●"/>
              <a:defRPr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7.png"/><Relationship Id="rId6" Type="http://schemas.openxmlformats.org/officeDocument/2006/relationships/image" Target="../media/image4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hyperlink" Target="https://www.cs.cornell.edu/courses/cs4820/2012sp/handouts/edmondskarp.pdf" TargetMode="External"/><Relationship Id="rId4" Type="http://schemas.openxmlformats.org/officeDocument/2006/relationships/hyperlink" Target="https://www.cs.cmu.edu/~15451-s22/lectures/lec11-dinics-optional.pdf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3"/>
          <p:cNvSpPr txBox="1"/>
          <p:nvPr>
            <p:ph type="ctrTitle"/>
          </p:nvPr>
        </p:nvSpPr>
        <p:spPr>
          <a:xfrm>
            <a:off x="729450" y="1322450"/>
            <a:ext cx="7688100" cy="166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Max Flow</a:t>
            </a:r>
            <a:endParaRPr/>
          </a:p>
        </p:txBody>
      </p:sp>
      <p:sp>
        <p:nvSpPr>
          <p:cNvPr id="87" name="Google Shape;87;p13"/>
          <p:cNvSpPr txBox="1"/>
          <p:nvPr>
            <p:ph idx="1" type="subTitle"/>
          </p:nvPr>
        </p:nvSpPr>
        <p:spPr>
          <a:xfrm>
            <a:off x="729627" y="3172900"/>
            <a:ext cx="7688100" cy="54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Scott Nelson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4"/>
          <p:cNvSpPr txBox="1"/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Problem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5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is Max Flow</a:t>
            </a:r>
            <a:endParaRPr/>
          </a:p>
        </p:txBody>
      </p:sp>
      <p:sp>
        <p:nvSpPr>
          <p:cNvPr id="98" name="Google Shape;98;p15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en"/>
              <a:t>Graph Problem maximizing flow across a network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en"/>
              <a:t>Weighted Graph, Source, and Sink 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en"/>
              <a:t>Goal of pushing most “flow” across network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"/>
              <a:t>Weights of edges are capacity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"/>
              <a:t>Balance of flow for intermediate nodes must be zero</a:t>
            </a:r>
            <a:endParaRPr/>
          </a:p>
          <a:p>
            <a:pPr indent="-298450" lvl="2" marL="13716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"/>
              <a:t>Flow in = Flow out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6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Applications of Max Flow Problems</a:t>
            </a:r>
            <a:endParaRPr/>
          </a:p>
        </p:txBody>
      </p:sp>
      <p:sp>
        <p:nvSpPr>
          <p:cNvPr id="104" name="Google Shape;104;p16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en"/>
              <a:t>Train Networks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"/>
              <a:t>Maximize the amount of trains from point A-&gt;B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"/>
              <a:t>Only can send so many trains on tracks for connecting routes between A and B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en"/>
              <a:t>Computer Networks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"/>
              <a:t>Maximize the data flow across a network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"/>
              <a:t>Each server can only process so much data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en"/>
              <a:t>Airline Scheduling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"/>
              <a:t>Flights departing from Los Angeles flying to London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"/>
              <a:t>Airports can only have so many flights a day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"/>
              <a:t>Connecting flights vs Direct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17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Example Network</a:t>
            </a:r>
            <a:endParaRPr/>
          </a:p>
        </p:txBody>
      </p:sp>
      <p:pic>
        <p:nvPicPr>
          <p:cNvPr id="110" name="Google Shape;110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92000" y="1787950"/>
            <a:ext cx="5597125" cy="26448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18"/>
          <p:cNvSpPr txBox="1"/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Algorithms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19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Edmond Karp </a:t>
            </a:r>
            <a:r>
              <a:rPr lang="en"/>
              <a:t>Algorithm</a:t>
            </a:r>
            <a:endParaRPr/>
          </a:p>
        </p:txBody>
      </p:sp>
      <p:sp>
        <p:nvSpPr>
          <p:cNvPr id="121" name="Google Shape;121;p19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en"/>
              <a:t>Loops </a:t>
            </a:r>
            <a:r>
              <a:rPr lang="en"/>
              <a:t>through</a:t>
            </a:r>
            <a:r>
              <a:rPr lang="en"/>
              <a:t> potential paths from  source to sink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"/>
              <a:t>Starts with shortest augmenting paths using Breadth First Search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"/>
              <a:t>Augmenting paths are paths from source to sink with capacity allowing more flow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"/>
              <a:t>Calculate bottleneck value for augmenting path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"/>
              <a:t>Repeat until no more augmenting paths can  be found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en"/>
              <a:t>Use edges flowing out of source or into sink to calculate max flow graph of augmenting paths</a:t>
            </a:r>
            <a:endParaRPr/>
          </a:p>
        </p:txBody>
      </p:sp>
      <p:pic>
        <p:nvPicPr>
          <p:cNvPr id="122" name="Google Shape;122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47425" y="3525350"/>
            <a:ext cx="2151700" cy="1308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3" name="Google Shape;123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499127" y="3525350"/>
            <a:ext cx="2269299" cy="13088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24" name="Google Shape;124;p1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768425" y="3524505"/>
            <a:ext cx="2151699" cy="1310582"/>
          </a:xfrm>
          <a:prstGeom prst="rect">
            <a:avLst/>
          </a:prstGeom>
          <a:noFill/>
          <a:ln>
            <a:noFill/>
          </a:ln>
        </p:spPr>
      </p:pic>
      <p:pic>
        <p:nvPicPr>
          <p:cNvPr id="125" name="Google Shape;125;p19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920124" y="3542612"/>
            <a:ext cx="2151699" cy="127435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20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Dinic’s Algorithm</a:t>
            </a:r>
            <a:endParaRPr/>
          </a:p>
        </p:txBody>
      </p:sp>
      <p:sp>
        <p:nvSpPr>
          <p:cNvPr id="131" name="Google Shape;131;p20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en"/>
              <a:t>Similar to Edmond Karps as it uses shortest augmenting path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en"/>
              <a:t>Focuses on creating a level graph (assigning level to each vertex)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"/>
              <a:t>Level value of vertex represents shortest path to source along edges with capacity </a:t>
            </a:r>
            <a:r>
              <a:rPr lang="en"/>
              <a:t>remaining</a:t>
            </a:r>
            <a:r>
              <a:rPr lang="en"/>
              <a:t> 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"/>
              <a:t>Only send from level i to level i+1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"/>
              <a:t>Repeat until blocking flow is reached</a:t>
            </a:r>
            <a:endParaRPr/>
          </a:p>
          <a:p>
            <a:pPr indent="-298450" lvl="2" marL="13716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"/>
              <a:t>Blocking flow is when edge in path has reached capacity so no flow can be sent even if later edges have extra capacity</a:t>
            </a:r>
            <a:endParaRPr/>
          </a:p>
        </p:txBody>
      </p:sp>
      <p:pic>
        <p:nvPicPr>
          <p:cNvPr id="132" name="Google Shape;132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60904" y="3595625"/>
            <a:ext cx="3032873" cy="1312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3" name="Google Shape;133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135433" y="3556338"/>
            <a:ext cx="3209193" cy="1390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21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Linear Programming</a:t>
            </a:r>
            <a:endParaRPr/>
          </a:p>
        </p:txBody>
      </p:sp>
      <p:sp>
        <p:nvSpPr>
          <p:cNvPr id="139" name="Google Shape;139;p21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en"/>
              <a:t>Max Flow problem can be rewritten into LP problems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"/>
              <a:t>A: Identity Matrix for number of edges in graph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"/>
              <a:t>b: Capacity Constraint for each edge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"/>
              <a:t>Aeq: Equations of inflow edges - outflow edges on </a:t>
            </a:r>
            <a:r>
              <a:rPr lang="en"/>
              <a:t>intermediary nodes in the network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"/>
              <a:t>Beq: Zeros as inflow - outflow of intermediary nodes must sum to zero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"/>
              <a:t>c: Objective function usually uses either the outflow of source node or inflow to sink node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en"/>
              <a:t>After constructing the matrices can simply use Simplex method to find the optimal solution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22"/>
          <p:cNvSpPr txBox="1"/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Results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23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Testing</a:t>
            </a:r>
            <a:endParaRPr/>
          </a:p>
        </p:txBody>
      </p:sp>
      <p:sp>
        <p:nvSpPr>
          <p:cNvPr id="150" name="Google Shape;150;p23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en"/>
              <a:t>Used Matlab timer for performance </a:t>
            </a:r>
            <a:r>
              <a:rPr lang="en"/>
              <a:t>comparison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"/>
              <a:t>Dinic’s Algorithm was consistently most performant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"/>
              <a:t>Edmond Karp’s was almost as fast as Dinic’s and could have been error or test cases favoring Dinic’s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"/>
              <a:t>Linear Programming was significantly slower than other algorithms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en"/>
              <a:t>Testing results make sense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"/>
              <a:t>Dinic’s BigO is O(V^2E)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"/>
              <a:t>Edmond Karp’s BigO is O(VE^2)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" sz="1300"/>
              <a:t>Most graphs tend to have more edges than nodes favoring Dinic’s on average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24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Conclusion</a:t>
            </a:r>
            <a:endParaRPr/>
          </a:p>
        </p:txBody>
      </p:sp>
      <p:sp>
        <p:nvSpPr>
          <p:cNvPr id="156" name="Google Shape;156;p24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en"/>
              <a:t>Linear Programming functioned as an effective solver for max flow, but is outperformed by more </a:t>
            </a:r>
            <a:r>
              <a:rPr lang="en"/>
              <a:t>modern</a:t>
            </a:r>
            <a:r>
              <a:rPr lang="en"/>
              <a:t> algorithms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en"/>
              <a:t>Dinic’s Algorithm will typically be more effective due to it favoring more edges than </a:t>
            </a:r>
            <a:r>
              <a:rPr lang="en"/>
              <a:t>vertices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en"/>
              <a:t>Edmond Karp’s can be as effective as Dinic’s but it’s rare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en"/>
              <a:t>Overall all algorithms could be reasonable used in an industry use case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"/>
              <a:t>LP is not so much slower than the other two to cause challenges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25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Further Improvements</a:t>
            </a:r>
            <a:endParaRPr/>
          </a:p>
        </p:txBody>
      </p:sp>
      <p:sp>
        <p:nvSpPr>
          <p:cNvPr id="162" name="Google Shape;162;p25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en"/>
              <a:t>Test more implementations of LP for greater </a:t>
            </a:r>
            <a:r>
              <a:rPr lang="en"/>
              <a:t>comparison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en"/>
              <a:t>Use more </a:t>
            </a:r>
            <a:r>
              <a:rPr lang="en"/>
              <a:t>efficient</a:t>
            </a:r>
            <a:r>
              <a:rPr lang="en"/>
              <a:t> algorithms than Edmond Karp and Dinic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"/>
              <a:t>Neither of these algorithms are “true” industry standards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en"/>
              <a:t>Compare Max Flow implementation to Min Cut implementation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"/>
              <a:t>Proofs have shown each instance of Max Flow can be implemented as a Min Cut Problem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26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References</a:t>
            </a:r>
            <a:endParaRPr/>
          </a:p>
        </p:txBody>
      </p:sp>
      <p:sp>
        <p:nvSpPr>
          <p:cNvPr id="168" name="Google Shape;168;p26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-</a:t>
            </a:r>
            <a:r>
              <a:rPr lang="en" u="sng">
                <a:solidFill>
                  <a:schemeClr val="hlink"/>
                </a:solidFill>
                <a:hlinkClick r:id="rId3"/>
              </a:rPr>
              <a:t>https://www.cs.cornell.edu/courses/cs4820/2012sp/handouts/edmondskarp.pdf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- </a:t>
            </a:r>
            <a:r>
              <a:rPr lang="en" u="sng">
                <a:solidFill>
                  <a:schemeClr val="hlink"/>
                </a:solidFill>
                <a:hlinkClick r:id="rId4"/>
              </a:rPr>
              <a:t>https://www.cs.cmu.edu/~15451-s22/lectures/lec11-dinics-optional.pdf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- Course Slides were used to derive simplex algorithm, credit to Professor Brorson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treamline">
  <a:themeElements>
    <a:clrScheme name="Streamline">
      <a:dk1>
        <a:srgbClr val="1A9988"/>
      </a:dk1>
      <a:lt1>
        <a:srgbClr val="FFFFFF"/>
      </a:lt1>
      <a:dk2>
        <a:srgbClr val="1A1A1A"/>
      </a:dk2>
      <a:lt2>
        <a:srgbClr val="E9EDEE"/>
      </a:lt2>
      <a:accent1>
        <a:srgbClr val="595959"/>
      </a:accent1>
      <a:accent2>
        <a:srgbClr val="6AA4C8"/>
      </a:accent2>
      <a:accent3>
        <a:srgbClr val="EB5600"/>
      </a:accent3>
      <a:accent4>
        <a:srgbClr val="A2FFE8"/>
      </a:accent4>
      <a:accent5>
        <a:srgbClr val="1C3678"/>
      </a:accent5>
      <a:accent6>
        <a:srgbClr val="FFB8A2"/>
      </a:accent6>
      <a:hlink>
        <a:srgbClr val="1C3678"/>
      </a:hlink>
      <a:folHlink>
        <a:srgbClr val="1C367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